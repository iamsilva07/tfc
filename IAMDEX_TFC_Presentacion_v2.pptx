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8" d="100"/>
          <a:sy n="138" d="100"/>
        </p:scale>
        <p:origin x="114" y="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9937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25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B21B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4" name="Shape 2"/>
          <p:cNvSpPr/>
          <p:nvPr/>
        </p:nvSpPr>
        <p:spPr>
          <a:xfrm>
            <a:off x="1188720" y="1371600"/>
            <a:ext cx="1280160" cy="1280160"/>
          </a:xfrm>
          <a:prstGeom prst="ellipse">
            <a:avLst/>
          </a:prstGeom>
          <a:solidFill>
            <a:srgbClr val="7C3AED"/>
          </a:solidFill>
          <a:ln w="381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1664208"/>
            <a:ext cx="1280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926080" y="1234440"/>
            <a:ext cx="5852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IAMDEX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2926080" y="2240280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de documentos con Inteligencia Artificial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2834640"/>
            <a:ext cx="5303520" cy="36576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944368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 ·  FastAPI  ·  ChromaDB  ·  Groq / Llama 3.3  ·  Railway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926080" y="352044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Silva Vázquez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926080" y="3913632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2.º DAM  ·  CIFP A Carballeira Marcos-Valcárcel  ·  2025–2026</a:t>
            </a:r>
            <a:endParaRPr lang="en-US" sz="1100" dirty="0"/>
          </a:p>
        </p:txBody>
      </p:sp>
      <p:pic>
        <p:nvPicPr>
          <p:cNvPr id="14" name="Imagen 13"/>
          <p:cNvPicPr preferRelativeResize="0">
            <a:picLocks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84" t="14557" r="16027" b="13013"/>
          <a:stretch/>
        </p:blipFill>
        <p:spPr>
          <a:xfrm>
            <a:off x="1108800" y="1371600"/>
            <a:ext cx="1620000" cy="162000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5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problema resuelve IAMDEX?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información está ahí — el problema es encontrarla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60320" y="1234440"/>
            <a:ext cx="4023360" cy="777240"/>
          </a:xfrm>
          <a:prstGeom prst="rect">
            <a:avLst/>
          </a:prstGeom>
          <a:solidFill>
            <a:srgbClr val="7C3AED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123444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 estaba ese dato?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2194560"/>
            <a:ext cx="260604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28600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7200" y="3017520"/>
            <a:ext cx="2423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dispersos en carpetas, correos y drives sin organizar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2194560"/>
            <a:ext cx="260604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228600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337560" y="3017520"/>
            <a:ext cx="2423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encontrar un dato concreto hay que leer el documento entero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2194560"/>
            <a:ext cx="260604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228600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🤷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217920" y="3017520"/>
            <a:ext cx="2423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imposible comparar información entre varios archivos a la vez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5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funciona? — El Pipeline RAG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responde usando TUS documentos como fuente, no su conocimiento general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143000"/>
            <a:ext cx="8412480" cy="32004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SUBES UN DOCUMENTO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600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Subida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5760" y="2578608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892808" y="171907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3AED"/>
                </a:solidFill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42032" y="1600200"/>
            <a:ext cx="594360" cy="5943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2542032" y="1600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130552" y="228600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084832" y="2578608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lee el texto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11880" y="171907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3AED"/>
                </a:solidFill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261104" y="1600200"/>
            <a:ext cx="594360" cy="5943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4261104" y="1600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849624" y="228600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Fragmentación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803904" y="2578608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Trozos de 500 palabras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330952" y="171907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3AED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980176" y="1600200"/>
            <a:ext cx="594360" cy="5943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5980176" y="1600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568696" y="228600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522976" y="2578608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trozo → vector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050024" y="171907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3AED"/>
                </a:solidFill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699248" y="1600200"/>
            <a:ext cx="594360" cy="5943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9" name="Text 27"/>
          <p:cNvSpPr/>
          <p:nvPr/>
        </p:nvSpPr>
        <p:spPr>
          <a:xfrm>
            <a:off x="7699248" y="1600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287768" y="228600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242048" y="2578608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almacena persistente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65760" y="3063240"/>
            <a:ext cx="841248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HACES UNA PREGUNTA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22960" y="3520440"/>
            <a:ext cx="594360" cy="59436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" y="35204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11480" y="420624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65760" y="4498848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natural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892808" y="363931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59669"/>
                </a:solidFill>
              </a:rPr>
              <a:t>→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542032" y="3520440"/>
            <a:ext cx="594360" cy="59436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9" name="Text 37"/>
          <p:cNvSpPr/>
          <p:nvPr/>
        </p:nvSpPr>
        <p:spPr>
          <a:xfrm>
            <a:off x="2542032" y="35204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2130552" y="420624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084832" y="4498848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→ embedding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611880" y="363931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59669"/>
                </a:solidFill>
              </a:rPr>
              <a:t>→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4261104" y="3520440"/>
            <a:ext cx="594360" cy="59436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4" name="Text 42"/>
          <p:cNvSpPr/>
          <p:nvPr/>
        </p:nvSpPr>
        <p:spPr>
          <a:xfrm>
            <a:off x="4261104" y="35204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3849624" y="420624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3803904" y="4498848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8 fragmentos similares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330952" y="363931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59669"/>
                </a:solidFill>
              </a:rPr>
              <a:t>→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980176" y="3520440"/>
            <a:ext cx="594360" cy="59436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9" name="Text 47"/>
          <p:cNvSpPr/>
          <p:nvPr/>
        </p:nvSpPr>
        <p:spPr>
          <a:xfrm>
            <a:off x="5980176" y="35204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5568696" y="420624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522976" y="4498848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Fragmentos + pregunta → IA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050024" y="363931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59669"/>
                </a:solidFill>
              </a:rPr>
              <a:t>→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7699248" y="3520440"/>
            <a:ext cx="594360" cy="59436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4" name="Text 52"/>
          <p:cNvSpPr/>
          <p:nvPr/>
        </p:nvSpPr>
        <p:spPr>
          <a:xfrm>
            <a:off x="7699248" y="35204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7287768" y="420624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7242048" y="4498848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fuente citada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5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 utilizadas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moderno aprendido desde cero durante el proyecto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269748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234440"/>
            <a:ext cx="2697480" cy="384048"/>
          </a:xfrm>
          <a:prstGeom prst="rect">
            <a:avLst/>
          </a:prstGeom>
          <a:solidFill>
            <a:srgbClr val="027DFD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13075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/ Dart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6916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27D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 Android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1984248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pantallas · modo oscuro · orientación bloqueada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1234440"/>
            <a:ext cx="269748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1234440"/>
            <a:ext cx="2697480" cy="384048"/>
          </a:xfrm>
          <a:prstGeom prst="rect">
            <a:avLst/>
          </a:prstGeom>
          <a:solidFill>
            <a:srgbClr val="009688"/>
          </a:solidFill>
          <a:ln/>
        </p:spPr>
      </p:sp>
      <p:sp>
        <p:nvSpPr>
          <p:cNvPr id="14" name="Text 12"/>
          <p:cNvSpPr/>
          <p:nvPr/>
        </p:nvSpPr>
        <p:spPr>
          <a:xfrm>
            <a:off x="3337560" y="13075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/ Python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37560" y="16916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9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 REST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337560" y="1984248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endpoints · JWT · bcrypt · SQLAlchemy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72200" y="1234440"/>
            <a:ext cx="269748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72200" y="1234440"/>
            <a:ext cx="2697480" cy="384048"/>
          </a:xfrm>
          <a:prstGeom prst="rect">
            <a:avLst/>
          </a:prstGeom>
          <a:solidFill>
            <a:srgbClr val="E48E00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13075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63640" y="16916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48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relacional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263640" y="1984248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tablas: users, documents, chat_messages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3063240"/>
            <a:ext cx="269748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3063240"/>
            <a:ext cx="2697480" cy="3840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411480" y="31363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11480" y="35204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vectorial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11480" y="3813048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· búsqueda semántica · volumen persistente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46120" y="3063240"/>
            <a:ext cx="269748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46120" y="3063240"/>
            <a:ext cx="2697480" cy="38404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9" name="Text 27"/>
          <p:cNvSpPr/>
          <p:nvPr/>
        </p:nvSpPr>
        <p:spPr>
          <a:xfrm>
            <a:off x="3337560" y="31363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/ Llama 3.3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37560" y="35204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lenguaje IA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337560" y="3813048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gratuita · baja latencia · RAG pipeline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172200" y="3063240"/>
            <a:ext cx="269748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72200" y="3063240"/>
            <a:ext cx="2697480" cy="3840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4" name="Text 32"/>
          <p:cNvSpPr/>
          <p:nvPr/>
        </p:nvSpPr>
        <p:spPr>
          <a:xfrm>
            <a:off x="6263640" y="31363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263640" y="35204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nube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263640" y="3813048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Auto-deploy desde GitHub · MySQL + volumen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5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en funcionamiento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300" dirty="0" err="1" smtClean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rincipales</a:t>
            </a:r>
            <a:r>
              <a:rPr lang="en-US" sz="1300" dirty="0" smtClean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 de usuario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1965960" cy="3611880"/>
          </a:xfrm>
          <a:prstGeom prst="rect">
            <a:avLst/>
          </a:prstGeom>
          <a:solidFill>
            <a:srgbClr val="FFFFFF"/>
          </a:solidFill>
          <a:ln w="19050">
            <a:solidFill>
              <a:srgbClr val="EDE9F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188720"/>
            <a:ext cx="1965960" cy="4114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393192" y="125272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📲  Primer acceso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" y="17373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11" name="Text 9"/>
          <p:cNvSpPr/>
          <p:nvPr/>
        </p:nvSpPr>
        <p:spPr>
          <a:xfrm>
            <a:off x="429768" y="17373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58952" y="17190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(3 pantallas)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9768" y="24231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" y="2423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58952" y="24048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con email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31089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17" name="Text 15"/>
          <p:cNvSpPr/>
          <p:nvPr/>
        </p:nvSpPr>
        <p:spPr>
          <a:xfrm>
            <a:off x="429768" y="31089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58952" y="30906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persistente automática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468880" y="1188720"/>
            <a:ext cx="1965960" cy="3611880"/>
          </a:xfrm>
          <a:prstGeom prst="rect">
            <a:avLst/>
          </a:prstGeom>
          <a:solidFill>
            <a:srgbClr val="FFFFFF"/>
          </a:solidFill>
          <a:ln w="19050">
            <a:solidFill>
              <a:srgbClr val="EDE9F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68880" y="1188720"/>
            <a:ext cx="1965960" cy="4114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2542032" y="125272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Gestión de documentos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578608" y="17373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23" name="Text 21"/>
          <p:cNvSpPr/>
          <p:nvPr/>
        </p:nvSpPr>
        <p:spPr>
          <a:xfrm>
            <a:off x="2578608" y="17373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907792" y="17190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PDF / DOCX / TXT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578608" y="24231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26" name="Text 24"/>
          <p:cNvSpPr/>
          <p:nvPr/>
        </p:nvSpPr>
        <p:spPr>
          <a:xfrm>
            <a:off x="2578608" y="2423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907792" y="24048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Renombrar y ordenar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578608" y="31089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29" name="Text 27"/>
          <p:cNvSpPr/>
          <p:nvPr/>
        </p:nvSpPr>
        <p:spPr>
          <a:xfrm>
            <a:off x="2578608" y="31089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907792" y="30906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Buscador por nombre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617720" y="1188720"/>
            <a:ext cx="1965960" cy="3611880"/>
          </a:xfrm>
          <a:prstGeom prst="rect">
            <a:avLst/>
          </a:prstGeom>
          <a:solidFill>
            <a:srgbClr val="FFFFFF"/>
          </a:solidFill>
          <a:ln w="19050">
            <a:solidFill>
              <a:srgbClr val="EDE9F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17720" y="1188720"/>
            <a:ext cx="1965960" cy="4114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3" name="Text 31"/>
          <p:cNvSpPr/>
          <p:nvPr/>
        </p:nvSpPr>
        <p:spPr>
          <a:xfrm>
            <a:off x="4690872" y="125272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Chat con la IA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27448" y="17373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35" name="Text 33"/>
          <p:cNvSpPr/>
          <p:nvPr/>
        </p:nvSpPr>
        <p:spPr>
          <a:xfrm>
            <a:off x="4727448" y="17373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56632" y="17190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en lenguaje natural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727448" y="24231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38" name="Text 36"/>
          <p:cNvSpPr/>
          <p:nvPr/>
        </p:nvSpPr>
        <p:spPr>
          <a:xfrm>
            <a:off x="4727448" y="2423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56632" y="24048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con fuente citada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727448" y="31089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41" name="Text 39"/>
          <p:cNvSpPr/>
          <p:nvPr/>
        </p:nvSpPr>
        <p:spPr>
          <a:xfrm>
            <a:off x="4727448" y="31089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056632" y="30906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indicator animado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766560" y="1188720"/>
            <a:ext cx="1965960" cy="3611880"/>
          </a:xfrm>
          <a:prstGeom prst="rect">
            <a:avLst/>
          </a:prstGeom>
          <a:solidFill>
            <a:srgbClr val="FFFFFF"/>
          </a:solidFill>
          <a:ln w="19050">
            <a:solidFill>
              <a:srgbClr val="EDE9F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766560" y="1188720"/>
            <a:ext cx="1965960" cy="4114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5" name="Text 43"/>
          <p:cNvSpPr/>
          <p:nvPr/>
        </p:nvSpPr>
        <p:spPr>
          <a:xfrm>
            <a:off x="6839712" y="125272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Chat general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876288" y="17373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47" name="Text 45"/>
          <p:cNvSpPr/>
          <p:nvPr/>
        </p:nvSpPr>
        <p:spPr>
          <a:xfrm>
            <a:off x="6876288" y="17373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205472" y="17190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sobre todos los docs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876288" y="24231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50" name="Text 48"/>
          <p:cNvSpPr/>
          <p:nvPr/>
        </p:nvSpPr>
        <p:spPr>
          <a:xfrm>
            <a:off x="6876288" y="2423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205472" y="24048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agrupado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876288" y="31089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53" name="Text 51"/>
          <p:cNvSpPr/>
          <p:nvPr/>
        </p:nvSpPr>
        <p:spPr>
          <a:xfrm>
            <a:off x="6876288" y="31089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205472" y="30906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respuestas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5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más difícil — Retos técnicos superados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reales encontrados y cómo se resolvieron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234440"/>
            <a:ext cx="416052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234440"/>
            <a:ext cx="457200" cy="16916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18288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134416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0" y="158191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incompatible con Python 3.14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203911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4400" y="2258568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Fijar la versión bcrypt==4.0.1 en requirements.txt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108960"/>
            <a:ext cx="416052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3108960"/>
            <a:ext cx="457200" cy="16916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3703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321868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400" y="345643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cerraba conexiones inactivas en Railway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14400" y="39136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14400" y="4133088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pool_pre_ping=True + pool_recycle=280 en SQLAlchemy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00600" y="1234440"/>
            <a:ext cx="416052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1234440"/>
            <a:ext cx="457200" cy="1691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0" y="18288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349240" y="134416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49240" y="158191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generaba fragmentos duplicados al reindexar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349240" y="203911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349240" y="2258568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Limpiar vectores del doc antes de cada nueva indexación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00600" y="3108960"/>
            <a:ext cx="416052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00600" y="3108960"/>
            <a:ext cx="457200" cy="1691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0" y="3703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349240" y="321868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349240" y="345643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Sincronía MySQL y ChromaDB al renombrar/borrar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349240" y="39136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349240" y="4133088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atómicas: primero ChromaDB, luego MySQL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B21B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aprendizajes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069080" cy="1691640"/>
          </a:xfrm>
          <a:prstGeom prst="rect">
            <a:avLst/>
          </a:prstGeom>
          <a:solidFill>
            <a:srgbClr val="4C1D9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  Diseño de APIs REST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600200"/>
            <a:ext cx="37947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SQLAlchemy + JWT — construir un backend real desde cero es el aprendizaje más sólido del proyecto.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069080" cy="1691640"/>
          </a:xfrm>
          <a:prstGeom prst="rect">
            <a:avLst/>
          </a:prstGeom>
          <a:solidFill>
            <a:srgbClr val="4C1D9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207008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RAG desde cero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92040" y="1600200"/>
            <a:ext cx="37947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+ Groq + embeddings — los conceptos del ciclo de IA y Big Data aplicados en producción.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2971800"/>
            <a:ext cx="4069080" cy="1691640"/>
          </a:xfrm>
          <a:prstGeom prst="rect">
            <a:avLst/>
          </a:prstGeom>
          <a:solidFill>
            <a:srgbClr val="4C1D9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3081528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Nuevo lenguaje en producción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474720"/>
            <a:ext cx="37947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y Dart aprendidos durante el desarrollo. La base en Java y Kotlin aceleró la curva.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54880" y="2971800"/>
            <a:ext cx="4069080" cy="1691640"/>
          </a:xfrm>
          <a:prstGeom prst="rect">
            <a:avLst/>
          </a:prstGeom>
          <a:solidFill>
            <a:srgbClr val="4C1D9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3081528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Despliegue real en la nube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3474720"/>
            <a:ext cx="37947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en producción 24/7 — la app funciona sin depender de ningún ordenador local.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65760" y="4736592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 →  Versión web  ·  iOS  ·  Multiidioma  ·  Tests automáticos  ·  Exportar PDF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B21B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162929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</a:t>
            </a:r>
            <a:endParaRPr lang="en-US" sz="2600" dirty="0"/>
          </a:p>
        </p:txBody>
      </p:sp>
      <p:pic>
        <p:nvPicPr>
          <p:cNvPr id="19" name="Imagen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0750" y="381000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270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B21B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743200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IAMDEX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6118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425196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Silva Vázquez  ·  2.º DAM  ·  CIFP A Carballeira Marcos-Valcárcel  ·  2025–2026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663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1300" dirty="0"/>
          </a:p>
        </p:txBody>
      </p:sp>
      <p:pic>
        <p:nvPicPr>
          <p:cNvPr id="9" name="Imagen 8"/>
          <p:cNvPicPr preferRelativeResize="0">
            <a:picLocks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84" t="14557" r="16027" b="13013"/>
          <a:stretch/>
        </p:blipFill>
        <p:spPr>
          <a:xfrm>
            <a:off x="3567600" y="547200"/>
            <a:ext cx="1980000" cy="198000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571</Words>
  <Application>Microsoft Office PowerPoint</Application>
  <PresentationFormat>Presentación en pantalla (16:9)</PresentationFormat>
  <Paragraphs>153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IAMDEX - TFC 2025/2026</dc:title>
  <dc:subject>PptxGenJS Presentation</dc:subject>
  <dc:creator>Iam Silva Vázquez</dc:creator>
  <cp:lastModifiedBy>Jennifer Teixeira Paz</cp:lastModifiedBy>
  <cp:revision>5</cp:revision>
  <dcterms:created xsi:type="dcterms:W3CDTF">2026-05-26T19:59:32Z</dcterms:created>
  <dcterms:modified xsi:type="dcterms:W3CDTF">2026-05-28T19:06:29Z</dcterms:modified>
</cp:coreProperties>
</file>